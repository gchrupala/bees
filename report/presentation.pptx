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computational model of how honeybee communication evolves. A shared code needs</a:t>
            </a:r>
          </a:p>
          <a:p>
            <a:r>
              <a:t>sender-receiver alignment, so any change to it poses a coordination problem. The</a:t>
            </a:r>
          </a:p>
          <a:p>
            <a:r>
              <a:t>waggle dance is a rare real-world case of a referential code shifting from an</a:t>
            </a:r>
          </a:p>
          <a:p>
            <a:r>
              <a:t>iconic to a more abstract form.</a:t>
            </a:r>
          </a:p>
          <a:p/>
          <a:p>
            <a:r>
              <a:t>Two questions drive the work: when is a direct-pointing dance worth maintaining,</a:t>
            </a:r>
          </a:p>
          <a:p>
            <a:r>
              <a:t>and under what conditions can a population transition to the gravity-referenced</a:t>
            </a:r>
          </a:p>
          <a:p>
            <a:r>
              <a:t>version without communication breaking down? The model is deliberately minimal</a:t>
            </a:r>
          </a:p>
          <a:p>
            <a:r>
              <a:t>and reproducible from seeds.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waggle dance encodes food direction, in two variants. On horizontal, exposed</a:t>
            </a:r>
          </a:p>
          <a:p>
            <a:r>
              <a:t>combs (Apis florea, dorsata) the waggle points directly at the food — iconic, the</a:t>
            </a:r>
          </a:p>
          <a:p>
            <a:r>
              <a:t>signal's form mirrors the referent. On vertical combs direct pointing is</a:t>
            </a:r>
          </a:p>
          <a:p>
            <a:r>
              <a:t>impossible, so bees use gravity as reference, mapping the food's sun-relative</a:t>
            </a:r>
          </a:p>
          <a:p>
            <a:r>
              <a:t>azimuth onto the angle from vertical — abstract.</a:t>
            </a:r>
          </a:p>
          <a:p/>
          <a:p>
            <a:r>
              <a:t>Phylogeny suggests horizontal + direct pointing is ancestral and vertical +</a:t>
            </a:r>
          </a:p>
          <a:p>
            <a:r>
              <a:t>gravity is derived, so a transition happened. It is hard because the code is</a:t>
            </a:r>
          </a:p>
          <a:p>
            <a:r>
              <a:t>shared: a change on one side not matched by the other disrupts communication.</a:t>
            </a:r>
          </a:p>
          <a:p>
            <a:r>
              <a:t>That coordination problem is the heart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Selection acts at the colony level; traits are inherited with Gaussian mutation,</a:t>
            </a:r>
          </a:p>
          <a:p>
            <a:r>
              <a:t>and workers express them with individual noise. Key traits: directional bias</a:t>
            </a:r>
          </a:p>
          <a:p>
            <a:r>
              <a:t>(dance precision), receiver attention, and sender/receiver transposition (weight</a:t>
            </a:r>
          </a:p>
          <a:p>
            <a:r>
              <a:t>on the gravity vs. direct code), plus comb tilt and orientation.</a:t>
            </a:r>
          </a:p>
          <a:p/>
          <a:p>
            <a:r>
              <a:t>As the comb tilts, the direct signal degrades and the gravity reference becomes</a:t>
            </a:r>
          </a:p>
          <a:p>
            <a:r>
              <a:t>available, so maintaining success requires moving both senders and receivers to</a:t>
            </a:r>
          </a:p>
          <a:p>
            <a:r>
              <a:t>the gravity code together — the coordination problem made concrete. Their</a:t>
            </a:r>
          </a:p>
          <a:p>
            <a:r>
              <a:t>mutations can be coupled. A separate extrinsic benefit rewards vertical combs and</a:t>
            </a:r>
          </a:p>
          <a:p>
            <a:r>
              <a:t>drives the tilt up. Everything is a parameter.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a flat comb, only direct pointing is in play. We measure the in-run</a:t>
            </a:r>
          </a:p>
          <a:p>
            <a:r>
              <a:t>recruitment advantage: dance-followers' success minus that of matched random</a:t>
            </a:r>
          </a:p>
          <a:p>
            <a:r>
              <a:t>searchers in the same episodes. Because following is randomized, this cleanly</a:t>
            </a:r>
          </a:p>
          <a:p>
            <a:r>
              <a:t>captures what the dance buys and does not mistake neutral drift for real</a:t>
            </a:r>
          </a:p>
          <a:p>
            <a:r>
              <a:t>communication.</a:t>
            </a:r>
          </a:p>
          <a:p/>
          <a:p>
            <a:r>
              <a:t>Communication is most valuable when food is directionally concentrated but hard</a:t>
            </a:r>
          </a:p>
          <a:p>
            <a:r>
              <a:t>to find by chance, and is suppressed at both extremes. Adding sites makes</a:t>
            </a:r>
          </a:p>
          <a:p>
            <a:r>
              <a:t>independent discovery easy and erodes the dance's value (left); wider patches</a:t>
            </a:r>
          </a:p>
          <a:p>
            <a:r>
              <a:t>tolerate noisy decoding, so advantage rises (right). The basic code evolves</a:t>
            </a:r>
          </a:p>
          <a:p>
            <a:r>
              <a:t>readily given a favorable resource distribution — the easy half.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let comb tilt evolve under the vertical-comb benefit. Horizontal-start</a:t>
            </a:r>
          </a:p>
          <a:p>
            <a:r>
              <a:t>colonies can evolve both a vertical comb and a coordinated gravity code — the</a:t>
            </a:r>
          </a:p>
          <a:p>
            <a:r>
              <a:t>best validated parameters are stable in 99 of 100 held-out seeds — but the</a:t>
            </a:r>
          </a:p>
          <a:p>
            <a:r>
              <a:t>corridor is narrow.</a:t>
            </a:r>
          </a:p>
          <a:p/>
          <a:p>
            <a:r>
              <a:t>Three factors govern it: the vertical-comb benefit, the mutation scale, and</a:t>
            </a:r>
          </a:p>
          <a:p>
            <a:r>
              <a:t>sender-receiver coupling. At weak benefit (left panel) the transition is nearly</a:t>
            </a:r>
          </a:p>
          <a:p>
            <a:r>
              <a:t>absent and cannot be rescued by mutation or coupling — a genuine barrier, not a</a:t>
            </a:r>
          </a:p>
          <a:p>
            <a:r>
              <a:t>slow approach (it stays closed even over 960 generations). Too few food sites or</a:t>
            </a:r>
          </a:p>
          <a:p>
            <a:r>
              <a:t>too small a mutation scale leaves the population in a productive but flat</a:t>
            </a:r>
          </a:p>
          <a:p>
            <a:r>
              <a:t>direct-pointing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Mirroring the biology: the iconic direct-pointing code evolves readily when the</a:t>
            </a:r>
          </a:p>
          <a:p>
            <a:r>
              <a:t>ecology makes food moderately hard to find, while the shift to the abstract</a:t>
            </a:r>
          </a:p>
          <a:p>
            <a:r>
              <a:t>gravity code happens only under a rare confluence — substantial vertical-comb</a:t>
            </a:r>
          </a:p>
          <a:p>
            <a:r>
              <a:t>benefit, enough mutation, and coupling that moves senders and receivers together.</a:t>
            </a:r>
          </a:p>
          <a:p/>
          <a:p>
            <a:r>
              <a:t>The result is not an artifact of one decode choice: it holds under both the</a:t>
            </a:r>
          </a:p>
          <a:p>
            <a:r>
              <a:t>approximate 'flatten' and the exact 'unproject' geometry (best unproject</a:t>
            </a:r>
          </a:p>
          <a:p>
            <a:r>
              <a:t>candidate 96/100 seeds). The claim is modest — a reproducible but conditional</a:t>
            </a:r>
          </a:p>
          <a:p>
            <a:r>
              <a:t>corridor. Next, replace the abstract benefit and ecology with explicit biological</a:t>
            </a:r>
          </a:p>
          <a:p>
            <a:r>
              <a:t>constraints and test whether it survives.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A1A1A"/>
                </a:solidFill>
                <a:latin typeface="Lora"/>
              </a:rPr>
              <a:t>The evolution of a referential code</a:t>
            </a:r>
          </a:p>
          <a:p>
            <a:pPr algn="l">
              <a:spcAft>
                <a:spcPts val="400"/>
              </a:spcAft>
            </a:pPr>
            <a:r>
              <a:rPr sz="3800" b="1">
                <a:solidFill>
                  <a:srgbClr val="1A1A1A"/>
                </a:solidFill>
                <a:latin typeface="Lora"/>
              </a:rPr>
              <a:t>in populations of bee-like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4114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555555"/>
                </a:solidFill>
                <a:latin typeface="Lora"/>
              </a:rPr>
              <a:t>From an iconic pointing dance to an abstract gravity-referenced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029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Lora"/>
              </a:rPr>
              <a:t>Grzegorz Chrupała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A1A1A"/>
                </a:solidFill>
                <a:latin typeface="Lora"/>
              </a:rPr>
              <a:t>Two ways to point to food</a:t>
            </a:r>
          </a:p>
        </p:txBody>
      </p:sp>
      <p:pic>
        <p:nvPicPr>
          <p:cNvPr id="3" name="Picture 2" descr="wag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687" y="1783080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A1A1A"/>
                </a:solidFill>
                <a:latin typeface="Lora"/>
              </a:rPr>
              <a:t>A minimal evolutionary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0">
                <a:solidFill>
                  <a:srgbClr val="1A1A1A"/>
                </a:solidFill>
                <a:latin typeface="Lora"/>
              </a:rPr>
              <a:t>Colonies reproduce in proportion to foraging payoff</a:t>
            </a:r>
          </a:p>
          <a:p>
            <a:pPr algn="l">
              <a:spcAft>
                <a:spcPts val="1600"/>
              </a:spcAft>
            </a:pPr>
            <a:r>
              <a:rPr sz="2200" b="0">
                <a:solidFill>
                  <a:srgbClr val="1A1A1A"/>
                </a:solidFill>
                <a:latin typeface="Lora"/>
              </a:rPr>
              <a:t>Workers are noisy samples of heritable colony traits</a:t>
            </a:r>
          </a:p>
          <a:p>
            <a:pPr algn="l">
              <a:spcAft>
                <a:spcPts val="1600"/>
              </a:spcAft>
            </a:pPr>
            <a:r>
              <a:rPr sz="2200" b="0">
                <a:solidFill>
                  <a:srgbClr val="1A1A1A"/>
                </a:solidFill>
                <a:latin typeface="Lora"/>
              </a:rPr>
              <a:t>Dances blend a direct and a gravity-referenced code</a:t>
            </a:r>
          </a:p>
          <a:p>
            <a:pPr algn="l">
              <a:spcAft>
                <a:spcPts val="1600"/>
              </a:spcAft>
            </a:pPr>
            <a:r>
              <a:rPr sz="2200" b="0">
                <a:solidFill>
                  <a:srgbClr val="1A1A1A"/>
                </a:solidFill>
                <a:latin typeface="Lora"/>
              </a:rPr>
              <a:t>Senders and receivers must stay aligned</a:t>
            </a:r>
          </a:p>
          <a:p>
            <a:pPr algn="l">
              <a:spcAft>
                <a:spcPts val="1600"/>
              </a:spcAft>
            </a:pPr>
            <a:r>
              <a:rPr sz="2200" b="0">
                <a:solidFill>
                  <a:srgbClr val="1A1A1A"/>
                </a:solidFill>
                <a:latin typeface="Lora"/>
              </a:rPr>
              <a:t>An extrinsic benefit rewards tilting the comb vertical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A1A1A"/>
                </a:solidFill>
                <a:latin typeface="Lora"/>
              </a:rPr>
              <a:t>The basic iconic code evolves readily</a:t>
            </a:r>
          </a:p>
        </p:txBody>
      </p:sp>
      <p:pic>
        <p:nvPicPr>
          <p:cNvPr id="3" name="Picture 2" descr="food_distribution_recruitment_adva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493" y="1920240"/>
            <a:ext cx="8790709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A1A1A"/>
                </a:solidFill>
                <a:latin typeface="Lora"/>
              </a:rPr>
              <a:t>The transition to the abstract code is conditional</a:t>
            </a:r>
          </a:p>
        </p:txBody>
      </p:sp>
      <p:pic>
        <p:nvPicPr>
          <p:cNvPr id="3" name="Picture 2" descr="evolutionary_interaction_stabl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986" y="1920240"/>
            <a:ext cx="9917723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A1A1A"/>
                </a:solidFill>
                <a:latin typeface="Lora"/>
              </a:rPr>
              <a:t>A reproducible, parameter-dependent corridor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2200" b="0">
                <a:solidFill>
                  <a:srgbClr val="1A1A1A"/>
                </a:solidFill>
                <a:latin typeface="Lora"/>
              </a:rPr>
              <a:t>Iconic direct pointing evolves easily</a:t>
            </a:r>
          </a:p>
          <a:p>
            <a:pPr algn="l">
              <a:spcAft>
                <a:spcPts val="1800"/>
              </a:spcAft>
            </a:pPr>
            <a:r>
              <a:rPr sz="2200" b="0">
                <a:solidFill>
                  <a:srgbClr val="1A1A1A"/>
                </a:solidFill>
                <a:latin typeface="Lora"/>
              </a:rPr>
              <a:t>The gravity-code transition needs a narrow confluence</a:t>
            </a:r>
          </a:p>
          <a:p>
            <a:pPr algn="l">
              <a:spcAft>
                <a:spcPts val="1800"/>
              </a:spcAft>
            </a:pPr>
            <a:r>
              <a:rPr sz="2200" b="0">
                <a:solidFill>
                  <a:srgbClr val="1A1A1A"/>
                </a:solidFill>
                <a:latin typeface="Lora"/>
              </a:rPr>
              <a:t>Robust under both decode geometries</a:t>
            </a:r>
          </a:p>
          <a:p>
            <a:pPr algn="l">
              <a:spcAft>
                <a:spcPts val="1800"/>
              </a:spcAft>
            </a:pPr>
            <a:r>
              <a:rPr sz="2200" b="0">
                <a:solidFill>
                  <a:srgbClr val="1A1A1A"/>
                </a:solidFill>
                <a:latin typeface="Lora"/>
              </a:rPr>
              <a:t>Next: make the benefit and ecology more biological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